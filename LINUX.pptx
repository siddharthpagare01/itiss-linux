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nva Sans Bold" charset="1" panose="020B0803030501040103"/>
      <p:regular r:id="rId20"/>
    </p:embeddedFont>
    <p:embeddedFont>
      <p:font typeface="Canva San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geeksforgeeks.org/linux-unix/introduction-linux-shell-shell-scripting/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geeksforgeeks.org/linux-unix/the-linux-kernel/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604" y="-422141"/>
            <a:ext cx="19196520" cy="2659632"/>
            <a:chOff x="0" y="0"/>
            <a:chExt cx="2422775" cy="33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2775" cy="339586"/>
            </a:xfrm>
            <a:custGeom>
              <a:avLst/>
              <a:gdLst/>
              <a:ahLst/>
              <a:cxnLst/>
              <a:rect r="r" b="b" t="t" l="l"/>
              <a:pathLst>
                <a:path h="339586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301116"/>
                  </a:lnTo>
                  <a:cubicBezTo>
                    <a:pt x="128871" y="327191"/>
                    <a:pt x="541258" y="372783"/>
                    <a:pt x="1159837" y="301116"/>
                  </a:cubicBezTo>
                  <a:cubicBezTo>
                    <a:pt x="1778421" y="238534"/>
                    <a:pt x="2259539" y="275040"/>
                    <a:pt x="2422775" y="301116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22775" cy="301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1604" y="-422141"/>
            <a:ext cx="19196520" cy="2508350"/>
            <a:chOff x="0" y="0"/>
            <a:chExt cx="2422775" cy="316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775" cy="321185"/>
            </a:xfrm>
            <a:custGeom>
              <a:avLst/>
              <a:gdLst/>
              <a:ahLst/>
              <a:cxnLst/>
              <a:rect r="r" b="b" t="t" l="l"/>
              <a:pathLst>
                <a:path h="321185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283988"/>
                  </a:lnTo>
                  <a:cubicBezTo>
                    <a:pt x="128871" y="308580"/>
                    <a:pt x="541258" y="353690"/>
                    <a:pt x="1159837" y="283988"/>
                  </a:cubicBezTo>
                  <a:cubicBezTo>
                    <a:pt x="1778421" y="224967"/>
                    <a:pt x="2259539" y="259396"/>
                    <a:pt x="2422775" y="283988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40126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22775" cy="28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355991"/>
            <a:ext cx="12281859" cy="7931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22"/>
              </a:lnSpc>
            </a:pPr>
            <a:r>
              <a:rPr lang="en-US" sz="344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Linux?</a:t>
            </a:r>
          </a:p>
          <a:p>
            <a:pPr algn="just">
              <a:lnSpc>
                <a:spcPts val="4822"/>
              </a:lnSpc>
            </a:pPr>
            <a:r>
              <a:rPr lang="en-US" sz="34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4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Linux is an Operating System (OS)</a:t>
            </a:r>
          </a:p>
          <a:p>
            <a:pPr algn="just">
              <a:lnSpc>
                <a:spcPts val="4822"/>
              </a:lnSpc>
            </a:pPr>
            <a:r>
              <a:rPr lang="en-US" sz="34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OS means: software that controls computer hardware and runs programs</a:t>
            </a:r>
          </a:p>
          <a:p>
            <a:pPr algn="just">
              <a:lnSpc>
                <a:spcPts val="4822"/>
              </a:lnSpc>
            </a:pPr>
          </a:p>
          <a:p>
            <a:pPr algn="just">
              <a:lnSpc>
                <a:spcPts val="4822"/>
              </a:lnSpc>
            </a:pPr>
            <a:r>
              <a:rPr lang="en-US" sz="34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Just like:</a:t>
            </a:r>
          </a:p>
          <a:p>
            <a:pPr algn="just" marL="743701" indent="-371850" lvl="1">
              <a:lnSpc>
                <a:spcPts val="4822"/>
              </a:lnSpc>
              <a:buFont typeface="Arial"/>
              <a:buChar char="•"/>
            </a:pPr>
            <a:r>
              <a:rPr lang="en-US" sz="34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Windows</a:t>
            </a:r>
          </a:p>
          <a:p>
            <a:pPr algn="just" marL="743701" indent="-371850" lvl="1">
              <a:lnSpc>
                <a:spcPts val="4822"/>
              </a:lnSpc>
              <a:buFont typeface="Arial"/>
              <a:buChar char="•"/>
            </a:pPr>
            <a:r>
              <a:rPr lang="en-US" sz="34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macOS</a:t>
            </a:r>
          </a:p>
          <a:p>
            <a:pPr algn="just">
              <a:lnSpc>
                <a:spcPts val="4822"/>
              </a:lnSpc>
            </a:pPr>
            <a:r>
              <a:rPr lang="en-US" sz="34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just">
              <a:lnSpc>
                <a:spcPts val="4822"/>
              </a:lnSpc>
            </a:pPr>
            <a:r>
              <a:rPr lang="en-US" sz="34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But Linux is:</a:t>
            </a:r>
          </a:p>
          <a:p>
            <a:pPr algn="just" marL="743701" indent="-371850" lvl="1">
              <a:lnSpc>
                <a:spcPts val="4822"/>
              </a:lnSpc>
              <a:buFont typeface="Arial"/>
              <a:buChar char="•"/>
            </a:pPr>
            <a:r>
              <a:rPr lang="en-US" sz="34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Free (open-source)</a:t>
            </a:r>
          </a:p>
          <a:p>
            <a:pPr algn="just" marL="743701" indent="-371850" lvl="1">
              <a:lnSpc>
                <a:spcPts val="4822"/>
              </a:lnSpc>
              <a:buFont typeface="Arial"/>
              <a:buChar char="•"/>
            </a:pPr>
            <a:r>
              <a:rPr lang="en-US" sz="34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Highly secure &amp; stable</a:t>
            </a:r>
          </a:p>
          <a:p>
            <a:pPr algn="just">
              <a:lnSpc>
                <a:spcPts val="482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33421" y="38678"/>
            <a:ext cx="1114860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604" y="-422141"/>
            <a:ext cx="19196520" cy="2659632"/>
            <a:chOff x="0" y="0"/>
            <a:chExt cx="2422775" cy="33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2775" cy="339586"/>
            </a:xfrm>
            <a:custGeom>
              <a:avLst/>
              <a:gdLst/>
              <a:ahLst/>
              <a:cxnLst/>
              <a:rect r="r" b="b" t="t" l="l"/>
              <a:pathLst>
                <a:path h="339586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301116"/>
                  </a:lnTo>
                  <a:cubicBezTo>
                    <a:pt x="128871" y="327191"/>
                    <a:pt x="541258" y="372783"/>
                    <a:pt x="1159837" y="301116"/>
                  </a:cubicBezTo>
                  <a:cubicBezTo>
                    <a:pt x="1778421" y="238534"/>
                    <a:pt x="2259539" y="275040"/>
                    <a:pt x="2422775" y="301116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22775" cy="301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1604" y="-422141"/>
            <a:ext cx="19196520" cy="2508350"/>
            <a:chOff x="0" y="0"/>
            <a:chExt cx="2422775" cy="316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775" cy="321185"/>
            </a:xfrm>
            <a:custGeom>
              <a:avLst/>
              <a:gdLst/>
              <a:ahLst/>
              <a:cxnLst/>
              <a:rect r="r" b="b" t="t" l="l"/>
              <a:pathLst>
                <a:path h="321185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283988"/>
                  </a:lnTo>
                  <a:cubicBezTo>
                    <a:pt x="128871" y="308580"/>
                    <a:pt x="541258" y="353690"/>
                    <a:pt x="1159837" y="283988"/>
                  </a:cubicBezTo>
                  <a:cubicBezTo>
                    <a:pt x="1778421" y="224967"/>
                    <a:pt x="2259539" y="259396"/>
                    <a:pt x="2422775" y="283988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40126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22775" cy="28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46766" y="2598041"/>
            <a:ext cx="16759781" cy="302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22"/>
              </a:lnSpc>
            </a:pPr>
            <a:r>
              <a:rPr lang="en-US" sz="344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Definition:</a:t>
            </a:r>
          </a:p>
          <a:p>
            <a:pPr algn="just">
              <a:lnSpc>
                <a:spcPts val="4822"/>
              </a:lnSpc>
            </a:pPr>
          </a:p>
          <a:p>
            <a:pPr algn="just">
              <a:lnSpc>
                <a:spcPts val="4822"/>
              </a:lnSpc>
            </a:pPr>
            <a:r>
              <a:rPr lang="en-US" sz="344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Linux is an open-source operating system based on UNIX, used to manage system resources and run applications.</a:t>
            </a:r>
          </a:p>
          <a:p>
            <a:pPr algn="just">
              <a:lnSpc>
                <a:spcPts val="482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33421" y="38678"/>
            <a:ext cx="1114860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604" y="-422141"/>
            <a:ext cx="19196520" cy="2659632"/>
            <a:chOff x="0" y="0"/>
            <a:chExt cx="2422775" cy="33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2775" cy="339586"/>
            </a:xfrm>
            <a:custGeom>
              <a:avLst/>
              <a:gdLst/>
              <a:ahLst/>
              <a:cxnLst/>
              <a:rect r="r" b="b" t="t" l="l"/>
              <a:pathLst>
                <a:path h="339586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301116"/>
                  </a:lnTo>
                  <a:cubicBezTo>
                    <a:pt x="128871" y="327191"/>
                    <a:pt x="541258" y="372783"/>
                    <a:pt x="1159837" y="301116"/>
                  </a:cubicBezTo>
                  <a:cubicBezTo>
                    <a:pt x="1778421" y="238534"/>
                    <a:pt x="2259539" y="275040"/>
                    <a:pt x="2422775" y="301116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22775" cy="301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1604" y="-422141"/>
            <a:ext cx="19196520" cy="2508350"/>
            <a:chOff x="0" y="0"/>
            <a:chExt cx="2422775" cy="316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775" cy="321185"/>
            </a:xfrm>
            <a:custGeom>
              <a:avLst/>
              <a:gdLst/>
              <a:ahLst/>
              <a:cxnLst/>
              <a:rect r="r" b="b" t="t" l="l"/>
              <a:pathLst>
                <a:path h="321185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283988"/>
                  </a:lnTo>
                  <a:cubicBezTo>
                    <a:pt x="128871" y="308580"/>
                    <a:pt x="541258" y="353690"/>
                    <a:pt x="1159837" y="283988"/>
                  </a:cubicBezTo>
                  <a:cubicBezTo>
                    <a:pt x="1778421" y="224967"/>
                    <a:pt x="2259539" y="259396"/>
                    <a:pt x="2422775" y="283988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40126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22775" cy="28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03597" y="2588516"/>
            <a:ext cx="16664246" cy="674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55"/>
              </a:lnSpc>
            </a:pPr>
            <a:r>
              <a:rPr lang="en-US" sz="382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 </a:t>
            </a:r>
            <a:r>
              <a:rPr lang="en-US" sz="38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 based on the UNIX operating system. UNIX is a powerful, multi-user, multitasking operating system originally developed in the 1970s at AT&amp;T Bell Labs. It laid the foundation for many modern operating systems, including Linux.</a:t>
            </a:r>
          </a:p>
          <a:p>
            <a:pPr algn="just">
              <a:lnSpc>
                <a:spcPts val="5355"/>
              </a:lnSpc>
            </a:pPr>
          </a:p>
          <a:p>
            <a:pPr algn="just" marL="825943" indent="-412971" lvl="1">
              <a:lnSpc>
                <a:spcPts val="5355"/>
              </a:lnSpc>
              <a:buFont typeface="Arial"/>
              <a:buChar char="•"/>
            </a:pPr>
            <a:r>
              <a:rPr lang="en-US" sz="38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Linux is free and open-source, accessible to everyone.</a:t>
            </a:r>
          </a:p>
          <a:p>
            <a:pPr algn="just" marL="825943" indent="-412971" lvl="1">
              <a:lnSpc>
                <a:spcPts val="5355"/>
              </a:lnSpc>
              <a:buFont typeface="Arial"/>
              <a:buChar char="•"/>
            </a:pPr>
            <a:r>
              <a:rPr lang="en-US" sz="38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promotes global collaboration and innovation.</a:t>
            </a:r>
          </a:p>
          <a:p>
            <a:pPr algn="just" marL="825943" indent="-412971" lvl="1">
              <a:lnSpc>
                <a:spcPts val="5355"/>
              </a:lnSpc>
              <a:buFont typeface="Arial"/>
              <a:buChar char="•"/>
            </a:pPr>
            <a:r>
              <a:rPr lang="en-US" sz="38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Linux offers efficient performance and strong security.</a:t>
            </a:r>
          </a:p>
          <a:p>
            <a:pPr algn="just" marL="825943" indent="-412971" lvl="1">
              <a:lnSpc>
                <a:spcPts val="5355"/>
              </a:lnSpc>
              <a:buFont typeface="Arial"/>
              <a:buChar char="•"/>
            </a:pPr>
            <a:r>
              <a:rPr lang="en-US" sz="38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works well across many devices and industries.</a:t>
            </a:r>
          </a:p>
          <a:p>
            <a:pPr algn="just">
              <a:lnSpc>
                <a:spcPts val="535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33421" y="38678"/>
            <a:ext cx="1114860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604" y="-422141"/>
            <a:ext cx="19196520" cy="2659632"/>
            <a:chOff x="0" y="0"/>
            <a:chExt cx="2422775" cy="33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2775" cy="339586"/>
            </a:xfrm>
            <a:custGeom>
              <a:avLst/>
              <a:gdLst/>
              <a:ahLst/>
              <a:cxnLst/>
              <a:rect r="r" b="b" t="t" l="l"/>
              <a:pathLst>
                <a:path h="339586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301116"/>
                  </a:lnTo>
                  <a:cubicBezTo>
                    <a:pt x="128871" y="327191"/>
                    <a:pt x="541258" y="372783"/>
                    <a:pt x="1159837" y="301116"/>
                  </a:cubicBezTo>
                  <a:cubicBezTo>
                    <a:pt x="1778421" y="238534"/>
                    <a:pt x="2259539" y="275040"/>
                    <a:pt x="2422775" y="301116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22775" cy="301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1604" y="-422141"/>
            <a:ext cx="19196520" cy="2508350"/>
            <a:chOff x="0" y="0"/>
            <a:chExt cx="2422775" cy="316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775" cy="321185"/>
            </a:xfrm>
            <a:custGeom>
              <a:avLst/>
              <a:gdLst/>
              <a:ahLst/>
              <a:cxnLst/>
              <a:rect r="r" b="b" t="t" l="l"/>
              <a:pathLst>
                <a:path h="321185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283988"/>
                  </a:lnTo>
                  <a:cubicBezTo>
                    <a:pt x="128871" y="308580"/>
                    <a:pt x="541258" y="353690"/>
                    <a:pt x="1159837" y="283988"/>
                  </a:cubicBezTo>
                  <a:cubicBezTo>
                    <a:pt x="1778421" y="224967"/>
                    <a:pt x="2259539" y="259396"/>
                    <a:pt x="2422775" y="283988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40126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22775" cy="28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2312" y="2407263"/>
            <a:ext cx="16937284" cy="810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72"/>
              </a:lnSpc>
            </a:pPr>
            <a:r>
              <a:rPr lang="en-US" sz="31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History of Linux</a:t>
            </a:r>
          </a:p>
          <a:p>
            <a:pPr algn="just">
              <a:lnSpc>
                <a:spcPts val="4372"/>
              </a:lnSpc>
            </a:pPr>
            <a:r>
              <a:rPr lang="en-US" sz="31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1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1: UNIX (1969)</a:t>
            </a:r>
          </a:p>
          <a:p>
            <a:pPr algn="just" marL="653338" indent="-326669" lvl="1">
              <a:lnSpc>
                <a:spcPts val="4236"/>
              </a:lnSpc>
              <a:buFont typeface="Arial"/>
              <a:buChar char="•"/>
            </a:pPr>
            <a:r>
              <a:rPr lang="en-US" sz="30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Developed at Bell Labs</a:t>
            </a:r>
          </a:p>
          <a:p>
            <a:pPr algn="just" marL="653338" indent="-326669" lvl="1">
              <a:lnSpc>
                <a:spcPts val="4236"/>
              </a:lnSpc>
              <a:buFont typeface="Arial"/>
              <a:buChar char="•"/>
            </a:pPr>
            <a:r>
              <a:rPr lang="en-US" sz="30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Multi-user and powerful OS</a:t>
            </a:r>
          </a:p>
          <a:p>
            <a:pPr algn="just" marL="653338" indent="-326669" lvl="1">
              <a:lnSpc>
                <a:spcPts val="4236"/>
              </a:lnSpc>
              <a:buFont typeface="Arial"/>
              <a:buChar char="•"/>
            </a:pPr>
            <a:r>
              <a:rPr lang="en-US" sz="30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But it was not free</a:t>
            </a:r>
          </a:p>
          <a:p>
            <a:pPr algn="just">
              <a:lnSpc>
                <a:spcPts val="4372"/>
              </a:lnSpc>
            </a:pPr>
            <a:r>
              <a:rPr lang="en-US" sz="31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2: MINIX (1987)</a:t>
            </a:r>
          </a:p>
          <a:p>
            <a:pPr algn="just" marL="632449" indent="-316224" lvl="1">
              <a:lnSpc>
                <a:spcPts val="4101"/>
              </a:lnSpc>
              <a:buFont typeface="Arial"/>
              <a:buChar char="•"/>
            </a:pPr>
            <a:r>
              <a:rPr lang="en-US" sz="29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Created by Andrew Tanenbaum</a:t>
            </a:r>
          </a:p>
          <a:p>
            <a:pPr algn="just" marL="632449" indent="-316224" lvl="1">
              <a:lnSpc>
                <a:spcPts val="4101"/>
              </a:lnSpc>
              <a:buFont typeface="Arial"/>
              <a:buChar char="•"/>
            </a:pPr>
            <a:r>
              <a:rPr lang="en-US" sz="29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for teaching OS concepts</a:t>
            </a:r>
          </a:p>
          <a:p>
            <a:pPr algn="just" marL="632449" indent="-316224" lvl="1">
              <a:lnSpc>
                <a:spcPts val="4101"/>
              </a:lnSpc>
              <a:buFont typeface="Arial"/>
              <a:buChar char="•"/>
            </a:pPr>
            <a:r>
              <a:rPr lang="en-US" sz="29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Limited features</a:t>
            </a:r>
          </a:p>
          <a:p>
            <a:pPr algn="just">
              <a:lnSpc>
                <a:spcPts val="4372"/>
              </a:lnSpc>
            </a:pPr>
            <a:r>
              <a:rPr lang="en-US" sz="31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3: Linux (1991) </a:t>
            </a:r>
          </a:p>
          <a:p>
            <a:pPr algn="just">
              <a:lnSpc>
                <a:spcPts val="4372"/>
              </a:lnSpc>
            </a:pPr>
            <a:r>
              <a:rPr lang="en-US" sz="312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1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Created by Linus Torvalds (student from Finland)</a:t>
            </a:r>
          </a:p>
          <a:p>
            <a:pPr algn="just" marL="674228" indent="-337114" lvl="1">
              <a:lnSpc>
                <a:spcPts val="4372"/>
              </a:lnSpc>
              <a:buFont typeface="Arial"/>
              <a:buChar char="•"/>
            </a:pPr>
            <a:r>
              <a:rPr lang="en-US" sz="31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Wanted a free OS like UNIX</a:t>
            </a:r>
          </a:p>
          <a:p>
            <a:pPr algn="just" marL="674228" indent="-337114" lvl="1">
              <a:lnSpc>
                <a:spcPts val="4372"/>
              </a:lnSpc>
              <a:buFont typeface="Arial"/>
              <a:buChar char="•"/>
            </a:pPr>
            <a:r>
              <a:rPr lang="en-US" sz="31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Developed first Linux kernel</a:t>
            </a:r>
          </a:p>
          <a:p>
            <a:pPr algn="just" marL="674228" indent="-337114" lvl="1">
              <a:lnSpc>
                <a:spcPts val="4372"/>
              </a:lnSpc>
              <a:buFont typeface="Arial"/>
              <a:buChar char="•"/>
            </a:pPr>
            <a:r>
              <a:rPr lang="en-US" sz="31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Shared it on internet</a:t>
            </a:r>
          </a:p>
          <a:p>
            <a:pPr algn="just">
              <a:lnSpc>
                <a:spcPts val="437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33421" y="38678"/>
            <a:ext cx="1114860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604" y="-422141"/>
            <a:ext cx="19196520" cy="2659632"/>
            <a:chOff x="0" y="0"/>
            <a:chExt cx="2422775" cy="33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2775" cy="339586"/>
            </a:xfrm>
            <a:custGeom>
              <a:avLst/>
              <a:gdLst/>
              <a:ahLst/>
              <a:cxnLst/>
              <a:rect r="r" b="b" t="t" l="l"/>
              <a:pathLst>
                <a:path h="339586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301116"/>
                  </a:lnTo>
                  <a:cubicBezTo>
                    <a:pt x="128871" y="327191"/>
                    <a:pt x="541258" y="372783"/>
                    <a:pt x="1159837" y="301116"/>
                  </a:cubicBezTo>
                  <a:cubicBezTo>
                    <a:pt x="1778421" y="238534"/>
                    <a:pt x="2259539" y="275040"/>
                    <a:pt x="2422775" y="301116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22775" cy="301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1604" y="-422141"/>
            <a:ext cx="19196520" cy="2508350"/>
            <a:chOff x="0" y="0"/>
            <a:chExt cx="2422775" cy="316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775" cy="321185"/>
            </a:xfrm>
            <a:custGeom>
              <a:avLst/>
              <a:gdLst/>
              <a:ahLst/>
              <a:cxnLst/>
              <a:rect r="r" b="b" t="t" l="l"/>
              <a:pathLst>
                <a:path h="321185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283988"/>
                  </a:lnTo>
                  <a:cubicBezTo>
                    <a:pt x="128871" y="308580"/>
                    <a:pt x="541258" y="353690"/>
                    <a:pt x="1159837" y="283988"/>
                  </a:cubicBezTo>
                  <a:cubicBezTo>
                    <a:pt x="1778421" y="224967"/>
                    <a:pt x="2259539" y="259396"/>
                    <a:pt x="2422775" y="283988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40126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22775" cy="28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2312" y="2397738"/>
            <a:ext cx="13391337" cy="8089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2"/>
              </a:lnSpc>
            </a:pPr>
            <a:r>
              <a:rPr lang="en-US" sz="32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a Linux</a:t>
            </a:r>
            <a:r>
              <a:rPr lang="en-US" sz="32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2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Distribution?</a:t>
            </a:r>
          </a:p>
          <a:p>
            <a:pPr algn="just">
              <a:lnSpc>
                <a:spcPts val="4582"/>
              </a:lnSpc>
            </a:pPr>
            <a:r>
              <a:rPr lang="en-US" sz="32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Linux distribution (distro) is a complete operating system</a:t>
            </a:r>
          </a:p>
          <a:p>
            <a:pPr algn="just">
              <a:lnSpc>
                <a:spcPts val="4582"/>
              </a:lnSpc>
            </a:pPr>
            <a:r>
              <a:rPr lang="en-US" sz="32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2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 includes:</a:t>
            </a:r>
          </a:p>
          <a:p>
            <a:pPr algn="just" marL="706643" indent="-353322" lvl="1">
              <a:lnSpc>
                <a:spcPts val="4582"/>
              </a:lnSpc>
              <a:buFont typeface="Arial"/>
              <a:buChar char="•"/>
            </a:pPr>
            <a:r>
              <a:rPr lang="en-US" sz="32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Linux kernel</a:t>
            </a:r>
          </a:p>
          <a:p>
            <a:pPr algn="just" marL="706643" indent="-353322" lvl="1">
              <a:lnSpc>
                <a:spcPts val="4582"/>
              </a:lnSpc>
              <a:buFont typeface="Arial"/>
              <a:buChar char="•"/>
            </a:pPr>
            <a:r>
              <a:rPr lang="en-US" sz="32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Software</a:t>
            </a:r>
          </a:p>
          <a:p>
            <a:pPr algn="just" marL="706643" indent="-353322" lvl="1">
              <a:lnSpc>
                <a:spcPts val="4582"/>
              </a:lnSpc>
              <a:buFont typeface="Arial"/>
              <a:buChar char="•"/>
            </a:pPr>
            <a:r>
              <a:rPr lang="en-US" sz="32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Tool</a:t>
            </a:r>
          </a:p>
          <a:p>
            <a:pPr algn="just">
              <a:lnSpc>
                <a:spcPts val="4582"/>
              </a:lnSpc>
            </a:pPr>
          </a:p>
          <a:p>
            <a:pPr algn="just">
              <a:lnSpc>
                <a:spcPts val="4582"/>
              </a:lnSpc>
            </a:pPr>
            <a:r>
              <a:rPr lang="en-US" sz="32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sz="32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imple meaning:</a:t>
            </a:r>
          </a:p>
          <a:p>
            <a:pPr algn="just">
              <a:lnSpc>
                <a:spcPts val="4582"/>
              </a:lnSpc>
            </a:pPr>
            <a:r>
              <a:rPr lang="en-US" sz="32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Linux + programs =</a:t>
            </a:r>
            <a:r>
              <a:rPr lang="en-US" sz="32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Dist</a:t>
            </a:r>
            <a:r>
              <a:rPr lang="en-US" sz="32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ribution</a:t>
            </a:r>
          </a:p>
          <a:p>
            <a:pPr algn="just">
              <a:lnSpc>
                <a:spcPts val="4582"/>
              </a:lnSpc>
            </a:pPr>
            <a:r>
              <a:rPr lang="en-US" sz="327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 marL="706643" indent="-353322" lvl="1">
              <a:lnSpc>
                <a:spcPts val="4582"/>
              </a:lnSpc>
              <a:buFont typeface="Arial"/>
              <a:buChar char="•"/>
            </a:pPr>
            <a:r>
              <a:rPr lang="en-US" sz="32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Linux alone is not enough</a:t>
            </a:r>
          </a:p>
          <a:p>
            <a:pPr algn="l" marL="706643" indent="-353322" lvl="1">
              <a:lnSpc>
                <a:spcPts val="4582"/>
              </a:lnSpc>
              <a:buFont typeface="Arial"/>
              <a:buChar char="•"/>
            </a:pPr>
            <a:r>
              <a:rPr lang="en-US" sz="32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When we add software, it becomes usable</a:t>
            </a:r>
          </a:p>
          <a:p>
            <a:pPr algn="l" marL="706643" indent="-353322" lvl="1">
              <a:lnSpc>
                <a:spcPts val="4582"/>
              </a:lnSpc>
              <a:buFont typeface="Arial"/>
              <a:buChar char="•"/>
            </a:pPr>
            <a:r>
              <a:rPr lang="en-US" sz="327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That full system is called a distribution</a:t>
            </a:r>
          </a:p>
          <a:p>
            <a:pPr algn="l">
              <a:lnSpc>
                <a:spcPts val="458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33421" y="38678"/>
            <a:ext cx="1114860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604" y="-422141"/>
            <a:ext cx="19196520" cy="2659632"/>
            <a:chOff x="0" y="0"/>
            <a:chExt cx="2422775" cy="33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2775" cy="339586"/>
            </a:xfrm>
            <a:custGeom>
              <a:avLst/>
              <a:gdLst/>
              <a:ahLst/>
              <a:cxnLst/>
              <a:rect r="r" b="b" t="t" l="l"/>
              <a:pathLst>
                <a:path h="339586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301116"/>
                  </a:lnTo>
                  <a:cubicBezTo>
                    <a:pt x="128871" y="327191"/>
                    <a:pt x="541258" y="372783"/>
                    <a:pt x="1159837" y="301116"/>
                  </a:cubicBezTo>
                  <a:cubicBezTo>
                    <a:pt x="1778421" y="238534"/>
                    <a:pt x="2259539" y="275040"/>
                    <a:pt x="2422775" y="301116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22775" cy="301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1604" y="-422141"/>
            <a:ext cx="19196520" cy="2508350"/>
            <a:chOff x="0" y="0"/>
            <a:chExt cx="2422775" cy="316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775" cy="321185"/>
            </a:xfrm>
            <a:custGeom>
              <a:avLst/>
              <a:gdLst/>
              <a:ahLst/>
              <a:cxnLst/>
              <a:rect r="r" b="b" t="t" l="l"/>
              <a:pathLst>
                <a:path h="321185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283988"/>
                  </a:lnTo>
                  <a:cubicBezTo>
                    <a:pt x="128871" y="308580"/>
                    <a:pt x="541258" y="353690"/>
                    <a:pt x="1159837" y="283988"/>
                  </a:cubicBezTo>
                  <a:cubicBezTo>
                    <a:pt x="1778421" y="224967"/>
                    <a:pt x="2259539" y="259396"/>
                    <a:pt x="2422775" y="283988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40126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22775" cy="28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42312" y="2388213"/>
            <a:ext cx="11991821" cy="690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60"/>
              </a:lnSpc>
            </a:pPr>
            <a:r>
              <a:rPr lang="en-US" sz="3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Examples of Linux</a:t>
            </a:r>
            <a:r>
              <a:rPr lang="en-US" sz="3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Distributions</a:t>
            </a:r>
          </a:p>
          <a:p>
            <a:pPr algn="just" marL="842077" indent="-421038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Ubu</a:t>
            </a: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ntu                →  easy for beginners</a:t>
            </a:r>
          </a:p>
          <a:p>
            <a:pPr algn="just" marL="842077" indent="-421038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 Hat (RHEL) → used in compan</a:t>
            </a: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ies</a:t>
            </a:r>
          </a:p>
          <a:p>
            <a:pPr algn="just" marL="842077" indent="-421038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entOS                → free se</a:t>
            </a: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rver OS</a:t>
            </a:r>
          </a:p>
          <a:p>
            <a:pPr algn="just" marL="842077" indent="-421038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</a:t>
            </a: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bian                 →</a:t>
            </a: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</a:t>
            </a: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ery stable</a:t>
            </a:r>
          </a:p>
          <a:p>
            <a:pPr algn="just" marL="842077" indent="-421038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Fedora                 → latest features</a:t>
            </a:r>
          </a:p>
          <a:p>
            <a:pPr algn="just" marL="842077" indent="-421038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Kali Linux            → used for security</a:t>
            </a:r>
          </a:p>
          <a:p>
            <a:pPr algn="just">
              <a:lnSpc>
                <a:spcPts val="5460"/>
              </a:lnSpc>
            </a:pPr>
          </a:p>
          <a:p>
            <a:pPr algn="just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Around 600 + Linux Distributions are available</a:t>
            </a:r>
          </a:p>
          <a:p>
            <a:pPr algn="l">
              <a:lnSpc>
                <a:spcPts val="546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33421" y="38678"/>
            <a:ext cx="1114860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604" y="-422141"/>
            <a:ext cx="19196520" cy="2659632"/>
            <a:chOff x="0" y="0"/>
            <a:chExt cx="2422775" cy="33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2775" cy="339586"/>
            </a:xfrm>
            <a:custGeom>
              <a:avLst/>
              <a:gdLst/>
              <a:ahLst/>
              <a:cxnLst/>
              <a:rect r="r" b="b" t="t" l="l"/>
              <a:pathLst>
                <a:path h="339586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301116"/>
                  </a:lnTo>
                  <a:cubicBezTo>
                    <a:pt x="128871" y="327191"/>
                    <a:pt x="541258" y="372783"/>
                    <a:pt x="1159837" y="301116"/>
                  </a:cubicBezTo>
                  <a:cubicBezTo>
                    <a:pt x="1778421" y="238534"/>
                    <a:pt x="2259539" y="275040"/>
                    <a:pt x="2422775" y="301116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22775" cy="301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1604" y="-422141"/>
            <a:ext cx="19196520" cy="2508350"/>
            <a:chOff x="0" y="0"/>
            <a:chExt cx="2422775" cy="316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775" cy="321185"/>
            </a:xfrm>
            <a:custGeom>
              <a:avLst/>
              <a:gdLst/>
              <a:ahLst/>
              <a:cxnLst/>
              <a:rect r="r" b="b" t="t" l="l"/>
              <a:pathLst>
                <a:path h="321185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283988"/>
                  </a:lnTo>
                  <a:cubicBezTo>
                    <a:pt x="128871" y="308580"/>
                    <a:pt x="541258" y="353690"/>
                    <a:pt x="1159837" y="283988"/>
                  </a:cubicBezTo>
                  <a:cubicBezTo>
                    <a:pt x="1778421" y="224967"/>
                    <a:pt x="2259539" y="259396"/>
                    <a:pt x="2422775" y="283988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40126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22775" cy="28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533421" y="2170816"/>
            <a:ext cx="15349433" cy="894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2"/>
              </a:lnSpc>
            </a:pP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Examples of Linux</a:t>
            </a: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Distributions</a:t>
            </a:r>
          </a:p>
          <a:p>
            <a:pPr algn="just" marL="729829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Ubu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ntu                →  easy for beginners</a:t>
            </a:r>
          </a:p>
          <a:p>
            <a:pPr algn="just" marL="729829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 Hat (RHEL) → used in compan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ies</a:t>
            </a:r>
          </a:p>
          <a:p>
            <a:pPr algn="just" marL="729829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entOS                → free se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rver OS</a:t>
            </a:r>
          </a:p>
          <a:p>
            <a:pPr algn="just" marL="729829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bian                 →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ery stable</a:t>
            </a:r>
          </a:p>
          <a:p>
            <a:pPr algn="just" marL="729829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Fedora                 → latest features</a:t>
            </a:r>
          </a:p>
          <a:p>
            <a:pPr algn="just" marL="729829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Kali Linux            → used for security</a:t>
            </a:r>
          </a:p>
          <a:p>
            <a:pPr algn="just">
              <a:lnSpc>
                <a:spcPts val="4732"/>
              </a:lnSpc>
            </a:pPr>
          </a:p>
          <a:p>
            <a:pPr algn="just">
              <a:lnSpc>
                <a:spcPts val="4732"/>
              </a:lnSpc>
            </a:pP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many distributions?</a:t>
            </a:r>
          </a:p>
          <a:p>
            <a:pPr algn="just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Because different users need different things:</a:t>
            </a:r>
          </a:p>
          <a:p>
            <a:pPr algn="just" marL="729829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Beginners → easy system</a:t>
            </a:r>
          </a:p>
          <a:p>
            <a:pPr algn="just" marL="729829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Companies → stable &amp; secure</a:t>
            </a:r>
          </a:p>
          <a:p>
            <a:pPr algn="just" marL="729829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Hackers/security → special tools</a:t>
            </a:r>
          </a:p>
          <a:p>
            <a:pPr algn="just">
              <a:lnSpc>
                <a:spcPts val="4732"/>
              </a:lnSpc>
            </a:pPr>
          </a:p>
          <a:p>
            <a:pPr algn="l">
              <a:lnSpc>
                <a:spcPts val="473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33421" y="38678"/>
            <a:ext cx="1114860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604" y="-422141"/>
            <a:ext cx="19196520" cy="2659632"/>
            <a:chOff x="0" y="0"/>
            <a:chExt cx="2422775" cy="33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2775" cy="339586"/>
            </a:xfrm>
            <a:custGeom>
              <a:avLst/>
              <a:gdLst/>
              <a:ahLst/>
              <a:cxnLst/>
              <a:rect r="r" b="b" t="t" l="l"/>
              <a:pathLst>
                <a:path h="339586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301116"/>
                  </a:lnTo>
                  <a:cubicBezTo>
                    <a:pt x="128871" y="327191"/>
                    <a:pt x="541258" y="372783"/>
                    <a:pt x="1159837" y="301116"/>
                  </a:cubicBezTo>
                  <a:cubicBezTo>
                    <a:pt x="1778421" y="238534"/>
                    <a:pt x="2259539" y="275040"/>
                    <a:pt x="2422775" y="301116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22775" cy="301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1604" y="-422141"/>
            <a:ext cx="19196520" cy="2508350"/>
            <a:chOff x="0" y="0"/>
            <a:chExt cx="2422775" cy="316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775" cy="321185"/>
            </a:xfrm>
            <a:custGeom>
              <a:avLst/>
              <a:gdLst/>
              <a:ahLst/>
              <a:cxnLst/>
              <a:rect r="r" b="b" t="t" l="l"/>
              <a:pathLst>
                <a:path h="321185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283988"/>
                  </a:lnTo>
                  <a:cubicBezTo>
                    <a:pt x="128871" y="308580"/>
                    <a:pt x="541258" y="353690"/>
                    <a:pt x="1159837" y="283988"/>
                  </a:cubicBezTo>
                  <a:cubicBezTo>
                    <a:pt x="1778421" y="224967"/>
                    <a:pt x="2259539" y="259396"/>
                    <a:pt x="2422775" y="283988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40126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22775" cy="28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75452" y="4039369"/>
            <a:ext cx="7632686" cy="5218931"/>
          </a:xfrm>
          <a:custGeom>
            <a:avLst/>
            <a:gdLst/>
            <a:ahLst/>
            <a:cxnLst/>
            <a:rect r="r" b="b" t="t" l="l"/>
            <a:pathLst>
              <a:path h="5218931" w="7632686">
                <a:moveTo>
                  <a:pt x="0" y="0"/>
                </a:moveTo>
                <a:lnTo>
                  <a:pt x="7632686" y="0"/>
                </a:lnTo>
                <a:lnTo>
                  <a:pt x="7632686" y="5218931"/>
                </a:lnTo>
                <a:lnTo>
                  <a:pt x="0" y="5218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75452" y="2398297"/>
            <a:ext cx="15349433" cy="2381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2"/>
              </a:lnSpc>
            </a:pP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rc</a:t>
            </a: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hitecture of Linux:</a:t>
            </a:r>
          </a:p>
          <a:p>
            <a:pPr algn="just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→ Applications → Shell → System Libraries → Kernel → Hardware</a:t>
            </a:r>
          </a:p>
          <a:p>
            <a:pPr algn="just">
              <a:lnSpc>
                <a:spcPts val="4732"/>
              </a:lnSpc>
            </a:pPr>
          </a:p>
          <a:p>
            <a:pPr algn="l">
              <a:lnSpc>
                <a:spcPts val="473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533421" y="38678"/>
            <a:ext cx="1114860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604" y="-422141"/>
            <a:ext cx="19196520" cy="2659632"/>
            <a:chOff x="0" y="0"/>
            <a:chExt cx="2422775" cy="33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2775" cy="339586"/>
            </a:xfrm>
            <a:custGeom>
              <a:avLst/>
              <a:gdLst/>
              <a:ahLst/>
              <a:cxnLst/>
              <a:rect r="r" b="b" t="t" l="l"/>
              <a:pathLst>
                <a:path h="339586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301116"/>
                  </a:lnTo>
                  <a:cubicBezTo>
                    <a:pt x="128871" y="327191"/>
                    <a:pt x="541258" y="372783"/>
                    <a:pt x="1159837" y="301116"/>
                  </a:cubicBezTo>
                  <a:cubicBezTo>
                    <a:pt x="1778421" y="238534"/>
                    <a:pt x="2259539" y="275040"/>
                    <a:pt x="2422775" y="301116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22775" cy="301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1604" y="-422141"/>
            <a:ext cx="19196520" cy="2508350"/>
            <a:chOff x="0" y="0"/>
            <a:chExt cx="2422775" cy="316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775" cy="321185"/>
            </a:xfrm>
            <a:custGeom>
              <a:avLst/>
              <a:gdLst/>
              <a:ahLst/>
              <a:cxnLst/>
              <a:rect r="r" b="b" t="t" l="l"/>
              <a:pathLst>
                <a:path h="321185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283988"/>
                  </a:lnTo>
                  <a:cubicBezTo>
                    <a:pt x="128871" y="308580"/>
                    <a:pt x="541258" y="353690"/>
                    <a:pt x="1159837" y="283988"/>
                  </a:cubicBezTo>
                  <a:cubicBezTo>
                    <a:pt x="1778421" y="224967"/>
                    <a:pt x="2259539" y="259396"/>
                    <a:pt x="2422775" y="283988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40126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22775" cy="28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78560" y="2170816"/>
            <a:ext cx="17100981" cy="538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32"/>
              </a:lnSpc>
            </a:pP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1.App</a:t>
            </a: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ic</a:t>
            </a: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ations</a:t>
            </a:r>
          </a:p>
          <a:p>
            <a:pPr algn="just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These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are progra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ms used by users</a:t>
            </a:r>
          </a:p>
          <a:p>
            <a:pPr algn="just">
              <a:lnSpc>
                <a:spcPts val="4732"/>
              </a:lnSpc>
            </a:pPr>
          </a:p>
          <a:p>
            <a:pPr algn="just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Examples:</a:t>
            </a:r>
          </a:p>
          <a:p>
            <a:pPr algn="just" marL="729828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rowser</a:t>
            </a:r>
          </a:p>
          <a:p>
            <a:pPr algn="just" marL="729828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Text editor</a:t>
            </a:r>
          </a:p>
          <a:p>
            <a:pPr algn="just" marL="729828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edia player</a:t>
            </a:r>
          </a:p>
          <a:p>
            <a:pPr algn="just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They send requests to the system</a:t>
            </a:r>
          </a:p>
          <a:p>
            <a:pPr algn="l">
              <a:lnSpc>
                <a:spcPts val="473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33421" y="38678"/>
            <a:ext cx="1114860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604" y="-422141"/>
            <a:ext cx="19196520" cy="2659632"/>
            <a:chOff x="0" y="0"/>
            <a:chExt cx="2422775" cy="33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2775" cy="339586"/>
            </a:xfrm>
            <a:custGeom>
              <a:avLst/>
              <a:gdLst/>
              <a:ahLst/>
              <a:cxnLst/>
              <a:rect r="r" b="b" t="t" l="l"/>
              <a:pathLst>
                <a:path h="339586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301116"/>
                  </a:lnTo>
                  <a:cubicBezTo>
                    <a:pt x="128871" y="327191"/>
                    <a:pt x="541258" y="372783"/>
                    <a:pt x="1159837" y="301116"/>
                  </a:cubicBezTo>
                  <a:cubicBezTo>
                    <a:pt x="1778421" y="238534"/>
                    <a:pt x="2259539" y="275040"/>
                    <a:pt x="2422775" y="301116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22775" cy="301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1604" y="-422141"/>
            <a:ext cx="19196520" cy="2508350"/>
            <a:chOff x="0" y="0"/>
            <a:chExt cx="2422775" cy="316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775" cy="321185"/>
            </a:xfrm>
            <a:custGeom>
              <a:avLst/>
              <a:gdLst/>
              <a:ahLst/>
              <a:cxnLst/>
              <a:rect r="r" b="b" t="t" l="l"/>
              <a:pathLst>
                <a:path h="321185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283988"/>
                  </a:lnTo>
                  <a:cubicBezTo>
                    <a:pt x="128871" y="308580"/>
                    <a:pt x="541258" y="353690"/>
                    <a:pt x="1159837" y="283988"/>
                  </a:cubicBezTo>
                  <a:cubicBezTo>
                    <a:pt x="1778421" y="224967"/>
                    <a:pt x="2259539" y="259396"/>
                    <a:pt x="2422775" y="283988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40126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22775" cy="28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21203" y="2505212"/>
            <a:ext cx="17100981" cy="958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2"/>
              </a:lnSpc>
            </a:pP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Shell</a:t>
            </a:r>
          </a:p>
          <a:p>
            <a:pPr algn="just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</a:t>
            </a:r>
            <a:r>
              <a:rPr lang="en-US" sz="338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www.geeksforgeeks.org/linux-unix/introduction-linux-shell-shell-scripting/"/>
              </a:rPr>
              <a:t>shell 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 the command-line interface that allows users to communicate with the operating system by entering commands.</a:t>
            </a:r>
          </a:p>
          <a:p>
            <a:pPr algn="just" marL="729828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Interprets and executes user commands.</a:t>
            </a:r>
          </a:p>
          <a:p>
            <a:pPr algn="just" marL="729828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Acts as a bridge between user actions and kernel processing.</a:t>
            </a:r>
          </a:p>
          <a:p>
            <a:pPr algn="just">
              <a:lnSpc>
                <a:spcPts val="4732"/>
              </a:lnSpc>
            </a:pPr>
          </a:p>
          <a:p>
            <a:pPr algn="just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ystem Utilities</a:t>
            </a:r>
          </a:p>
          <a:p>
            <a:pPr algn="just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utilities are built-in tools that help users manage, configure, and maintain the operating system.</a:t>
            </a:r>
          </a:p>
          <a:p>
            <a:pPr algn="just" marL="729828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for tasks like software installation, user management, and monitoring.</a:t>
            </a:r>
          </a:p>
          <a:p>
            <a:pPr algn="just" marL="729828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Simplify system administration processes for both beginners and administrators.</a:t>
            </a:r>
          </a:p>
          <a:p>
            <a:pPr algn="just">
              <a:lnSpc>
                <a:spcPts val="4732"/>
              </a:lnSpc>
            </a:pPr>
          </a:p>
          <a:p>
            <a:pPr algn="just">
              <a:lnSpc>
                <a:spcPts val="4732"/>
              </a:lnSpc>
            </a:pPr>
          </a:p>
          <a:p>
            <a:pPr algn="l">
              <a:lnSpc>
                <a:spcPts val="4732"/>
              </a:lnSpc>
            </a:pPr>
          </a:p>
          <a:p>
            <a:pPr algn="l">
              <a:lnSpc>
                <a:spcPts val="473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33421" y="38678"/>
            <a:ext cx="1114860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604" y="-422141"/>
            <a:ext cx="19196520" cy="2659632"/>
            <a:chOff x="0" y="0"/>
            <a:chExt cx="2422775" cy="33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2775" cy="339586"/>
            </a:xfrm>
            <a:custGeom>
              <a:avLst/>
              <a:gdLst/>
              <a:ahLst/>
              <a:cxnLst/>
              <a:rect r="r" b="b" t="t" l="l"/>
              <a:pathLst>
                <a:path h="339586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301116"/>
                  </a:lnTo>
                  <a:cubicBezTo>
                    <a:pt x="128871" y="327191"/>
                    <a:pt x="541258" y="372783"/>
                    <a:pt x="1159837" y="301116"/>
                  </a:cubicBezTo>
                  <a:cubicBezTo>
                    <a:pt x="1778421" y="238534"/>
                    <a:pt x="2259539" y="275040"/>
                    <a:pt x="2422775" y="301116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22775" cy="301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1604" y="-422141"/>
            <a:ext cx="19196520" cy="2508350"/>
            <a:chOff x="0" y="0"/>
            <a:chExt cx="2422775" cy="316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775" cy="321185"/>
            </a:xfrm>
            <a:custGeom>
              <a:avLst/>
              <a:gdLst/>
              <a:ahLst/>
              <a:cxnLst/>
              <a:rect r="r" b="b" t="t" l="l"/>
              <a:pathLst>
                <a:path h="321185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283988"/>
                  </a:lnTo>
                  <a:cubicBezTo>
                    <a:pt x="128871" y="308580"/>
                    <a:pt x="541258" y="353690"/>
                    <a:pt x="1159837" y="283988"/>
                  </a:cubicBezTo>
                  <a:cubicBezTo>
                    <a:pt x="1778421" y="224967"/>
                    <a:pt x="2259539" y="259396"/>
                    <a:pt x="2422775" y="283988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40126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22775" cy="28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91126" y="2170816"/>
            <a:ext cx="17100981" cy="898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2"/>
              </a:lnSpc>
            </a:pP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4. Kernel</a:t>
            </a:r>
          </a:p>
          <a:p>
            <a:pPr algn="just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</a:t>
            </a:r>
            <a:r>
              <a:rPr lang="en-US" sz="338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www.geeksforgeeks.org/linux-unix/the-linux-kernel/"/>
              </a:rPr>
              <a:t>kernel 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 the core of the Linux operating system that manages hardware resources and controls communication between software and hardware.</a:t>
            </a:r>
          </a:p>
          <a:p>
            <a:pPr algn="just" marL="729828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Handles process management, memory, and device control.</a:t>
            </a:r>
          </a:p>
          <a:p>
            <a:pPr algn="just" marL="729828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Prevents conflicts between multiple running programs.</a:t>
            </a:r>
          </a:p>
          <a:p>
            <a:pPr algn="just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Types of Kernels: Monolithic, Microkernel, Hybrid, Exokernel</a:t>
            </a:r>
          </a:p>
          <a:p>
            <a:pPr algn="just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just">
              <a:lnSpc>
                <a:spcPts val="4732"/>
              </a:lnSpc>
            </a:pP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 Hardware L</a:t>
            </a:r>
            <a:r>
              <a:rPr lang="en-US" sz="338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ayer</a:t>
            </a:r>
          </a:p>
          <a:p>
            <a:pPr algn="just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hardware layer cons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ists of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hysic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 components that execute comm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ands and pro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vid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system resources.</a:t>
            </a:r>
          </a:p>
          <a:p>
            <a:pPr algn="just" marL="729828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Includes CPU, RAM, storage,</a:t>
            </a: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input/output devices.</a:t>
            </a:r>
          </a:p>
          <a:p>
            <a:pPr algn="just" marL="729828" indent="-364914" lvl="1">
              <a:lnSpc>
                <a:spcPts val="4732"/>
              </a:lnSpc>
              <a:buFont typeface="Arial"/>
              <a:buChar char="•"/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Communicates with the OS using device drivers and kernel services.</a:t>
            </a:r>
          </a:p>
          <a:p>
            <a:pPr algn="just">
              <a:lnSpc>
                <a:spcPts val="4732"/>
              </a:lnSpc>
            </a:pPr>
          </a:p>
          <a:p>
            <a:pPr algn="l">
              <a:lnSpc>
                <a:spcPts val="4732"/>
              </a:lnSpc>
            </a:pPr>
            <a:r>
              <a:rPr lang="en-US" sz="338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473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33421" y="38678"/>
            <a:ext cx="1114860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604" y="-422141"/>
            <a:ext cx="19196520" cy="2659632"/>
            <a:chOff x="0" y="0"/>
            <a:chExt cx="2422775" cy="33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2775" cy="339586"/>
            </a:xfrm>
            <a:custGeom>
              <a:avLst/>
              <a:gdLst/>
              <a:ahLst/>
              <a:cxnLst/>
              <a:rect r="r" b="b" t="t" l="l"/>
              <a:pathLst>
                <a:path h="339586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301116"/>
                  </a:lnTo>
                  <a:cubicBezTo>
                    <a:pt x="128871" y="327191"/>
                    <a:pt x="541258" y="372783"/>
                    <a:pt x="1159837" y="301116"/>
                  </a:cubicBezTo>
                  <a:cubicBezTo>
                    <a:pt x="1778421" y="238534"/>
                    <a:pt x="2259539" y="275040"/>
                    <a:pt x="2422775" y="301116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22775" cy="301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1604" y="-422141"/>
            <a:ext cx="19196520" cy="2508350"/>
            <a:chOff x="0" y="0"/>
            <a:chExt cx="2422775" cy="316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775" cy="321185"/>
            </a:xfrm>
            <a:custGeom>
              <a:avLst/>
              <a:gdLst/>
              <a:ahLst/>
              <a:cxnLst/>
              <a:rect r="r" b="b" t="t" l="l"/>
              <a:pathLst>
                <a:path h="321185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283988"/>
                  </a:lnTo>
                  <a:cubicBezTo>
                    <a:pt x="128871" y="308580"/>
                    <a:pt x="541258" y="353690"/>
                    <a:pt x="1159837" y="283988"/>
                  </a:cubicBezTo>
                  <a:cubicBezTo>
                    <a:pt x="1778421" y="224967"/>
                    <a:pt x="2259539" y="259396"/>
                    <a:pt x="2422775" y="283988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40126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22775" cy="28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06254" y="2262444"/>
            <a:ext cx="16851593" cy="1006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13"/>
              </a:lnSpc>
            </a:pPr>
            <a:r>
              <a:rPr lang="en-US" sz="31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Applications of Linux Opera</a:t>
            </a:r>
            <a:r>
              <a:rPr lang="en-US" sz="31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sz="31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sz="31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ng</a:t>
            </a:r>
            <a:r>
              <a:rPr lang="en-US" sz="31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System:</a:t>
            </a:r>
          </a:p>
          <a:p>
            <a:pPr algn="just">
              <a:lnSpc>
                <a:spcPts val="4413"/>
              </a:lnSpc>
            </a:pPr>
          </a:p>
          <a:p>
            <a:pPr algn="just">
              <a:lnSpc>
                <a:spcPts val="4413"/>
              </a:lnSpc>
            </a:pPr>
            <a:r>
              <a:rPr lang="en-US" sz="31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1.Servers and Hosting</a:t>
            </a:r>
          </a:p>
          <a:p>
            <a:pPr algn="just" marL="680649" indent="-340325" lvl="1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Powers most web servers, cloud platforms, and data centers worldwide.</a:t>
            </a:r>
          </a:p>
          <a:p>
            <a:pPr algn="just" marL="680649" indent="-340325" lvl="1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Offers high stability, security, and uptime for critical services.</a:t>
            </a:r>
          </a:p>
          <a:p>
            <a:pPr algn="just">
              <a:lnSpc>
                <a:spcPts val="4413"/>
              </a:lnSpc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Development</a:t>
            </a:r>
          </a:p>
          <a:p>
            <a:pPr algn="just" marL="680649" indent="-340325" lvl="1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powerful tools and environments for coding, testing, and debugging.</a:t>
            </a:r>
          </a:p>
          <a:p>
            <a:pPr algn="just" marL="680649" indent="-340325" lvl="1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Supports multiple programming languages and frameworks.</a:t>
            </a:r>
          </a:p>
          <a:p>
            <a:pPr algn="just">
              <a:lnSpc>
                <a:spcPts val="4413"/>
              </a:lnSpc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Desktop and Personal Use</a:t>
            </a:r>
          </a:p>
          <a:p>
            <a:pPr algn="just" marL="680649" indent="-340325" lvl="1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Offers customizable and secure desktop environments.</a:t>
            </a:r>
          </a:p>
          <a:p>
            <a:pPr algn="just" marL="680649" indent="-340325" lvl="1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Supports daily computing tasks like browsing, office work, and media usage.</a:t>
            </a:r>
          </a:p>
          <a:p>
            <a:pPr algn="just">
              <a:lnSpc>
                <a:spcPts val="4413"/>
              </a:lnSpc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Cybersecurity</a:t>
            </a:r>
          </a:p>
          <a:p>
            <a:pPr algn="just" marL="680649" indent="-340325" lvl="1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Widely used for ethical hacking and penetration testing (e.g., Kali Linux).</a:t>
            </a:r>
          </a:p>
          <a:p>
            <a:pPr algn="just" marL="680649" indent="-340325" lvl="1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advanced tools for threat detection and security analysis.</a:t>
            </a:r>
          </a:p>
          <a:p>
            <a:pPr algn="just">
              <a:lnSpc>
                <a:spcPts val="4413"/>
              </a:lnSpc>
            </a:pPr>
          </a:p>
          <a:p>
            <a:pPr algn="just">
              <a:lnSpc>
                <a:spcPts val="4413"/>
              </a:lnSpc>
            </a:pPr>
          </a:p>
          <a:p>
            <a:pPr algn="just">
              <a:lnSpc>
                <a:spcPts val="4413"/>
              </a:lnSpc>
            </a:pPr>
          </a:p>
          <a:p>
            <a:pPr algn="l">
              <a:lnSpc>
                <a:spcPts val="441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33421" y="38678"/>
            <a:ext cx="1114860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604" y="-422141"/>
            <a:ext cx="19196520" cy="2659632"/>
            <a:chOff x="0" y="0"/>
            <a:chExt cx="2422775" cy="33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2775" cy="339586"/>
            </a:xfrm>
            <a:custGeom>
              <a:avLst/>
              <a:gdLst/>
              <a:ahLst/>
              <a:cxnLst/>
              <a:rect r="r" b="b" t="t" l="l"/>
              <a:pathLst>
                <a:path h="339586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301116"/>
                  </a:lnTo>
                  <a:cubicBezTo>
                    <a:pt x="128871" y="327191"/>
                    <a:pt x="541258" y="372783"/>
                    <a:pt x="1159837" y="301116"/>
                  </a:cubicBezTo>
                  <a:cubicBezTo>
                    <a:pt x="1778421" y="238534"/>
                    <a:pt x="2259539" y="275040"/>
                    <a:pt x="2422775" y="301116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22775" cy="301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1604" y="-422141"/>
            <a:ext cx="19196520" cy="2508350"/>
            <a:chOff x="0" y="0"/>
            <a:chExt cx="2422775" cy="316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775" cy="321185"/>
            </a:xfrm>
            <a:custGeom>
              <a:avLst/>
              <a:gdLst/>
              <a:ahLst/>
              <a:cxnLst/>
              <a:rect r="r" b="b" t="t" l="l"/>
              <a:pathLst>
                <a:path h="321185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283988"/>
                  </a:lnTo>
                  <a:cubicBezTo>
                    <a:pt x="128871" y="308580"/>
                    <a:pt x="541258" y="353690"/>
                    <a:pt x="1159837" y="283988"/>
                  </a:cubicBezTo>
                  <a:cubicBezTo>
                    <a:pt x="1778421" y="224967"/>
                    <a:pt x="2259539" y="259396"/>
                    <a:pt x="2422775" y="283988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40126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22775" cy="28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06254" y="2262444"/>
            <a:ext cx="16851593" cy="827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13"/>
              </a:lnSpc>
            </a:pPr>
            <a:r>
              <a:rPr lang="en-US" sz="31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Applications of Linux Opera</a:t>
            </a:r>
            <a:r>
              <a:rPr lang="en-US" sz="31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sz="31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sz="31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ng</a:t>
            </a:r>
            <a:r>
              <a:rPr lang="en-US" sz="31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System:</a:t>
            </a:r>
          </a:p>
          <a:p>
            <a:pPr algn="just">
              <a:lnSpc>
                <a:spcPts val="4413"/>
              </a:lnSpc>
            </a:pPr>
          </a:p>
          <a:p>
            <a:pPr algn="just">
              <a:lnSpc>
                <a:spcPts val="4413"/>
              </a:lnSpc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 Embedded Systems</a:t>
            </a:r>
          </a:p>
          <a:p>
            <a:pPr algn="just" marL="680648" indent="-340324" lvl="1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Runs efficiently on low-resource devices like IoT and routers.</a:t>
            </a:r>
          </a:p>
          <a:p>
            <a:pPr algn="just" marL="680648" indent="-340324" lvl="1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Supports real-time processing and hardware-level control.</a:t>
            </a:r>
          </a:p>
          <a:p>
            <a:pPr algn="just">
              <a:lnSpc>
                <a:spcPts val="4413"/>
              </a:lnSpc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Supercomputers</a:t>
            </a:r>
          </a:p>
          <a:p>
            <a:pPr algn="just" marL="680648" indent="-340324" lvl="1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in high-performance computing environments worldwide.</a:t>
            </a:r>
          </a:p>
          <a:p>
            <a:pPr algn="just" marL="680648" indent="-340324" lvl="1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Handles massive scientific calculations and simulations efficiently.</a:t>
            </a:r>
          </a:p>
          <a:p>
            <a:pPr algn="just">
              <a:lnSpc>
                <a:spcPts val="4413"/>
              </a:lnSpc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 Education</a:t>
            </a:r>
          </a:p>
          <a:p>
            <a:pPr algn="just" marL="680648" indent="-340324" lvl="1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elps students learn programming, networking, and system administration.</a:t>
            </a:r>
          </a:p>
          <a:p>
            <a:pPr algn="just" marL="680648" indent="-340324" lvl="1">
              <a:lnSpc>
                <a:spcPts val="4413"/>
              </a:lnSpc>
              <a:buFont typeface="Arial"/>
              <a:buChar char="•"/>
            </a:pPr>
            <a:r>
              <a:rPr lang="en-US" sz="31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Free and open-source, making it ideal for academic institutions.</a:t>
            </a:r>
          </a:p>
          <a:p>
            <a:pPr algn="just">
              <a:lnSpc>
                <a:spcPts val="4413"/>
              </a:lnSpc>
            </a:pPr>
          </a:p>
          <a:p>
            <a:pPr algn="just">
              <a:lnSpc>
                <a:spcPts val="4413"/>
              </a:lnSpc>
            </a:pPr>
          </a:p>
          <a:p>
            <a:pPr algn="just">
              <a:lnSpc>
                <a:spcPts val="4413"/>
              </a:lnSpc>
            </a:pPr>
          </a:p>
          <a:p>
            <a:pPr algn="l">
              <a:lnSpc>
                <a:spcPts val="441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533421" y="38678"/>
            <a:ext cx="1114860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71604" y="-422141"/>
            <a:ext cx="19196520" cy="2659632"/>
            <a:chOff x="0" y="0"/>
            <a:chExt cx="2422775" cy="3356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2775" cy="339586"/>
            </a:xfrm>
            <a:custGeom>
              <a:avLst/>
              <a:gdLst/>
              <a:ahLst/>
              <a:cxnLst/>
              <a:rect r="r" b="b" t="t" l="l"/>
              <a:pathLst>
                <a:path h="339586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301116"/>
                  </a:lnTo>
                  <a:cubicBezTo>
                    <a:pt x="128871" y="327191"/>
                    <a:pt x="541258" y="372783"/>
                    <a:pt x="1159837" y="301116"/>
                  </a:cubicBezTo>
                  <a:cubicBezTo>
                    <a:pt x="1778421" y="238534"/>
                    <a:pt x="2259539" y="275040"/>
                    <a:pt x="2422775" y="301116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22775" cy="301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71604" y="-422141"/>
            <a:ext cx="19196520" cy="2508350"/>
            <a:chOff x="0" y="0"/>
            <a:chExt cx="2422775" cy="316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22775" cy="321185"/>
            </a:xfrm>
            <a:custGeom>
              <a:avLst/>
              <a:gdLst/>
              <a:ahLst/>
              <a:cxnLst/>
              <a:rect r="r" b="b" t="t" l="l"/>
              <a:pathLst>
                <a:path h="321185" w="2422775">
                  <a:moveTo>
                    <a:pt x="2415055" y="0"/>
                  </a:moveTo>
                  <a:lnTo>
                    <a:pt x="7719" y="0"/>
                  </a:lnTo>
                  <a:cubicBezTo>
                    <a:pt x="5672" y="0"/>
                    <a:pt x="3709" y="813"/>
                    <a:pt x="2261" y="2261"/>
                  </a:cubicBezTo>
                  <a:cubicBezTo>
                    <a:pt x="813" y="3709"/>
                    <a:pt x="0" y="5672"/>
                    <a:pt x="0" y="7719"/>
                  </a:cubicBezTo>
                  <a:lnTo>
                    <a:pt x="0" y="283988"/>
                  </a:lnTo>
                  <a:cubicBezTo>
                    <a:pt x="128871" y="308580"/>
                    <a:pt x="541258" y="353690"/>
                    <a:pt x="1159837" y="283988"/>
                  </a:cubicBezTo>
                  <a:cubicBezTo>
                    <a:pt x="1778421" y="224967"/>
                    <a:pt x="2259539" y="259396"/>
                    <a:pt x="2422775" y="283988"/>
                  </a:cubicBezTo>
                  <a:lnTo>
                    <a:pt x="2422775" y="7719"/>
                  </a:lnTo>
                  <a:cubicBezTo>
                    <a:pt x="2422775" y="5672"/>
                    <a:pt x="2421961" y="3709"/>
                    <a:pt x="2420514" y="2261"/>
                  </a:cubicBezTo>
                  <a:cubicBezTo>
                    <a:pt x="2419066" y="813"/>
                    <a:pt x="2417103" y="0"/>
                    <a:pt x="2415055" y="0"/>
                  </a:cubicBezTo>
                  <a:close/>
                </a:path>
              </a:pathLst>
            </a:custGeom>
            <a:solidFill>
              <a:srgbClr val="40126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22775" cy="286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589301" y="4686305"/>
            <a:ext cx="16851593" cy="1069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3"/>
              </a:lnSpc>
            </a:pPr>
            <a:r>
              <a:rPr lang="en-US" sz="62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 </a:t>
            </a:r>
            <a:r>
              <a:rPr lang="en-US" sz="625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Installation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33421" y="38678"/>
            <a:ext cx="1114860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DAHGCr40FDA</dc:identifier>
  <dcterms:modified xsi:type="dcterms:W3CDTF">2011-08-01T06:04:30Z</dcterms:modified>
  <cp:revision>1</cp:revision>
  <dc:title>LINUX</dc:title>
</cp:coreProperties>
</file>